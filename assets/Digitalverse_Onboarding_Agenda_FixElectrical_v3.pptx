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5"/>
  </p:normalViewPr>
  <p:slideViewPr>
    <p:cSldViewPr snapToGrid="0" snapToObjects="1">
      <p:cViewPr>
        <p:scale>
          <a:sx n="94" d="100"/>
          <a:sy n="94" d="100"/>
        </p:scale>
        <p:origin x="53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gitalverse_logo_icon_transparent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795" y="1234440"/>
            <a:ext cx="4578306" cy="4389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gitalverse_logo_lockup_dark_background_on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320040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874519"/>
            <a:ext cx="7315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B46FF"/>
                </a:solidFill>
                <a:latin typeface="Calibri"/>
              </a:rPr>
              <a:t>ONBOARDING</a:t>
            </a:r>
            <a:r>
              <a:rPr sz="1400" b="0" i="0">
                <a:solidFill>
                  <a:srgbClr val="8EA0B8"/>
                </a:solidFill>
                <a:latin typeface="Calibri"/>
              </a:rPr>
              <a:t>    ·    </a:t>
            </a:r>
            <a:r>
              <a:rPr sz="1400" b="1" i="0">
                <a:solidFill>
                  <a:srgbClr val="00B7FF"/>
                </a:solidFill>
                <a:latin typeface="Calibri"/>
              </a:rPr>
              <a:t>DISCOVERY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77724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5F7FA"/>
                </a:solidFill>
                <a:latin typeface="Calibri"/>
              </a:rPr>
              <a:t>Fix Electrical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772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BB46FF"/>
                </a:solidFill>
                <a:latin typeface="Calibri"/>
              </a:rPr>
              <a:t>Onboarding</a:t>
            </a:r>
            <a:r>
              <a:rPr sz="3200" b="0" i="0">
                <a:solidFill>
                  <a:srgbClr val="F5F7FA"/>
                </a:solidFill>
                <a:latin typeface="Calibri"/>
              </a:rPr>
              <a:t> </a:t>
            </a:r>
            <a:r>
              <a:rPr sz="3200" b="1" i="0">
                <a:solidFill>
                  <a:srgbClr val="00B7FF"/>
                </a:solidFill>
                <a:latin typeface="Calibri"/>
              </a:rP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7772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EA0B8"/>
                </a:solidFill>
                <a:latin typeface="Calibri"/>
              </a:rPr>
              <a:t>90-Minute Session Agenda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83480"/>
            <a:ext cx="6826568" cy="777240"/>
          </a:xfrm>
          <a:prstGeom prst="roundRect">
            <a:avLst>
              <a:gd name="adj" fmla="val 18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24753"/>
            <a:ext cx="6452235" cy="34041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7FA"/>
                </a:solidFill>
                <a:latin typeface="Calibri"/>
              </a:rPr>
              <a:t>Monday, 4 May 2026</a:t>
            </a:r>
            <a:r>
              <a:rPr sz="1600" b="0" i="0">
                <a:solidFill>
                  <a:srgbClr val="8EA0B8"/>
                </a:solidFill>
                <a:latin typeface="Calibri"/>
              </a:rPr>
              <a:t>   ·   </a:t>
            </a:r>
            <a:r>
              <a:rPr sz="1600" b="1" i="0">
                <a:solidFill>
                  <a:srgbClr val="23E6B4"/>
                </a:solidFill>
                <a:latin typeface="Calibri"/>
              </a:rPr>
              <a:t>09:00</a:t>
            </a:r>
            <a:r>
              <a:rPr sz="1600" b="0" i="0">
                <a:solidFill>
                  <a:srgbClr val="8EA0B8"/>
                </a:solidFill>
                <a:latin typeface="Calibri"/>
              </a:rPr>
              <a:t>   ·   </a:t>
            </a:r>
            <a:r>
              <a:rPr sz="1600" b="0" i="0">
                <a:solidFill>
                  <a:srgbClr val="F5F7FA"/>
                </a:solidFill>
                <a:latin typeface="Calibri"/>
              </a:rPr>
              <a:t>Fix HQ Penrith, NSW, Australia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822960"/>
            <a:ext cx="8686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5F7FA"/>
                </a:solidFill>
                <a:latin typeface="Calibri"/>
              </a:rPr>
              <a:t>Today's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8686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EA0B8"/>
                </a:solidFill>
                <a:latin typeface="Calibri"/>
              </a:rPr>
              <a:t>A structured 90 minutes to build the foundation of your AI front office.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91440" cy="1417320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5528" y="213055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BB4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13055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B46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07568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B46FF"/>
                </a:solidFill>
                <a:latin typeface="Calibri"/>
              </a:rPr>
              <a:t>0:00 – 0:10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233171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Introduction &amp;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274319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Team introductions  ·  session objectives  ·  how your agents will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7451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91440" cy="1417320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01968" y="213055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32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213055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326B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207568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26BFF"/>
                </a:solidFill>
                <a:latin typeface="Calibri"/>
              </a:rPr>
              <a:t>0:10 – 0:25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33171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General Manager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74319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Business overview  ·  decision-making  ·  escalation paths  ·  reporting needs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8327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383279"/>
            <a:ext cx="91440" cy="1417320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5528" y="363931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00B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63931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B7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1912" y="358444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0:25 – 0:40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81912" y="384047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Sales &amp; Leads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425195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Lead sources  ·  qualification  ·  pipeline  ·  CRM  ·  follow-up processes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38327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383279"/>
            <a:ext cx="91440" cy="1417320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01968" y="363931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D8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1968" y="363931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D84DFF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358444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4DFF"/>
                </a:solidFill>
                <a:latin typeface="Calibri"/>
              </a:rPr>
              <a:t>0:40 – 1:00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384047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Customer Engagement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425195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Communication channels  ·  tone  ·  reviews  ·  loyalty  ·  post-job follow-up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89203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2920" y="4892039"/>
            <a:ext cx="91440" cy="1417320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5528" y="514807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23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5528" y="514807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3E6B4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1912" y="509320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E6B4"/>
                </a:solidFill>
                <a:latin typeface="Calibri"/>
              </a:rPr>
              <a:t>1:00 – 1:15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1912" y="534923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Finance Manager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81912" y="576071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Quoting  ·  invoicing  ·  payment terms  ·  reporting  ·  approvals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89203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9360" y="4892039"/>
            <a:ext cx="91440" cy="1417320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601968" y="514807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27F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01968" y="514807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7F1BC"/>
                </a:solidFill>
                <a:latin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88352" y="509320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7F1BC"/>
                </a:solidFill>
                <a:latin typeface="Calibri"/>
              </a:rPr>
              <a:t>1:15 – 1:30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8352" y="534923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Operations &amp; Kitchens Manager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576071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Job scheduling  ·  field teams  ·  recurring tasks  ·  supplier comms  ·  workflows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BB4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BB46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Introduction &amp;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B46FF"/>
                </a:solidFill>
                <a:latin typeface="Calibri"/>
              </a:rPr>
              <a:t>0:00 – 0:10   ·   10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7040880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7040880" cy="411480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70408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30712"/>
                </a:solidFill>
                <a:latin typeface="Calibri"/>
              </a:rPr>
              <a:t>FACILITATOR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6583680" cy="33832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Welcome &amp; team introductions.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What we do &amp; how we add value for the team.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Session objectives.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The knowledge we gather today feeds directly into the personality, tone, and intelligence of each agent.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Think of it like a staff induction.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Set context: real-world detail and examples are ideal.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Summary of today's agenda.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057400"/>
            <a:ext cx="4023360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057400"/>
            <a:ext cx="4023360" cy="411480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2057400"/>
            <a:ext cx="4023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30712"/>
                </a:solidFill>
                <a:latin typeface="Calibri"/>
              </a:rPr>
              <a:t>SESSION ATTENDEES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999" y="2606040"/>
            <a:ext cx="3566160" cy="34290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E6B4"/>
                </a:solidFill>
              </a:rPr>
              <a:t>Digitalverse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23E6B4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Consultant — Simon De Greyte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23E6B4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Consultant — Victoria De Greyte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B7FF"/>
                </a:solidFill>
              </a:rPr>
              <a:t>Fix Electrical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Owner / Director — Adrian Faul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Operations Manager — Duane Hazell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Finance / Bookkeeping — Catherine Faul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Tech Consultant—Brenton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32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326B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General Manager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26BFF"/>
                </a:solidFill>
                <a:latin typeface="Calibri"/>
              </a:rPr>
              <a:t>0:10 – 0:30  ·  20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Business intelligence · coordination ·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Describe the business in your own words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core products / services?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a typical week look like?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are your main customer types?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biggest operational pain points?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software do you use daily?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track tasks / jobs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Where do you store business documents?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have a CRM or client database?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reporting tools, if any, do you use?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decisions escalated?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recurring reports do you produce?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handle after-hours enquiries?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triggers a management review?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is performance currently measured?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are the key decision-makers?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teams / roles exist?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who day-to-day?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handles business emergencies?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external advisors are involved?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00B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00B7FF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Sales &amp; Leads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B7FF"/>
                </a:solidFill>
                <a:latin typeface="Calibri"/>
              </a:rPr>
              <a:t>0:30 – 0:45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Lead capture · qualification · pipeline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leads find you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your typical sales cycle length?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qualify a lead?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Your biggest challenge today with taking leads?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peak seasons or slow periods?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CRM / lead tracking tool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quotes get created and sent?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calendar / booking tool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leads currently recorded?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use any marketing automation?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Walk us through a lead from first contact to booked job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enquiries currently triaged?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your follow-up process if no response?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lost leads get recorded?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When does a lead become a customer?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handles inbound enquiries?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has authority to approve quotes / pricing?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Is there a dedicated sales person or shared?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existing client relationships?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D8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84DFF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Customer Engagement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84DFF"/>
                </a:solidFill>
                <a:latin typeface="Calibri"/>
              </a:rPr>
              <a:t>0:40 – 1:00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Communication · reviews · retention · follow-up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currently communicate with customers?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your tone of voice — formal or casual?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handle complaints or negative feedback?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 your customers love most about you?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 they sometimes find frustrating?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channels do customers use to reach you?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use SMS, email, chat or social?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request or manage reviews?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email platform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Any loyalty or rewards programs in place?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happens after a job is completed?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ask for referrals or reviews?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re-engagement campaigns work?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complaints escalated and resolved?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a VIP or repeat customer experience look like?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customer communication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responds to reviews and social comments?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has authority to offer discounts / goodwill?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does the team hand off a customer complaint?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23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23E6B4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Finance Manager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E6B4"/>
                </a:solidFill>
                <a:latin typeface="Calibri"/>
              </a:rPr>
              <a:t>1:00 – 1:15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Quotes · invoicing · payments ·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currently manage quoting and invoicing?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standard payment terms?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quotes currently created?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handle overdue accounts?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financial reportsand/or events matter most to you?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accounting software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invoices generated — manual or automatic?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use Stripe, Square, or another payment gateway?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integrate accounting with job management?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have a separate payroll system?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Does the quoting process integrate with the accounting software?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your month-end and quarter-end look like?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triggers an overdue payment reminder?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invoices and expense approvals handled - things like hardware, fuel etc?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reconcile payments received?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creates quotes and approves pricing?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accounts receivable / chasing payments?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have an in-house bookkeeper or external?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receives financial reports and how often?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has authority over discounts or write-offs?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27F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27F1BC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Operations &amp; Kitchens Manager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7F1BC"/>
                </a:solidFill>
                <a:latin typeface="Calibri"/>
              </a:rPr>
              <a:t>1:15 – 1:30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Scheduling · field teams · workflows · suppliers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schedule and dispatch jobs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a typical operational day look like?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most repetitive operational tasks?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Explain the kitchen process to us?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operational tasks consume the most admin time?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job management or field service software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does the team communicate during the 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tools do kitchen companies use to communicate with you?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is a new job created, assigned and tracked?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recurring scheduled tasks (maintenance, servicing)?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job variations or changes handled?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the process when a tech or team member calls in sick?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manage supplier orders and deliveries?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is responsible for day-to-day scheduling?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many field / site staff do you have?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field teams report back on job completion?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subcontractors or external labour?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OH&amp;S and compliance tasks tracked?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868680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5F7FA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EA0B8"/>
                </a:solidFill>
                <a:latin typeface="Calibri"/>
              </a:rPr>
              <a:t>What happens after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7315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5939" y="2834640"/>
            <a:ext cx="164592" cy="36576"/>
          </a:xfrm>
          <a:prstGeom prst="rect">
            <a:avLst/>
          </a:prstGeom>
          <a:solidFill>
            <a:srgbClr val="5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13550" y="2834640"/>
            <a:ext cx="164592" cy="36576"/>
          </a:xfrm>
          <a:prstGeom prst="rect">
            <a:avLst/>
          </a:prstGeom>
          <a:solidFill>
            <a:srgbClr val="5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51161" y="2834640"/>
            <a:ext cx="164592" cy="36576"/>
          </a:xfrm>
          <a:prstGeom prst="rect">
            <a:avLst/>
          </a:prstGeom>
          <a:solidFill>
            <a:srgbClr val="5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05089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BB4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05089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BB46FF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B46FF"/>
                </a:solidFill>
                <a:latin typeface="Calibri"/>
              </a:rPr>
              <a:t>Week 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Build &amp; Configure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0829" y="4480560"/>
            <a:ext cx="457200" cy="22860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Knowledge base · agent training · integrations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0531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42700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32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42700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326B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7691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326BFF"/>
                </a:solidFill>
                <a:latin typeface="Calibri"/>
              </a:rP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91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Installation 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8440" y="4480560"/>
            <a:ext cx="457200" cy="22860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23411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On-site hardware · network · power requirements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2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080311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00B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0311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0B7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302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Week 3–4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5302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Commissioning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6051" y="4480560"/>
            <a:ext cx="457200" cy="22860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61022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Live testing · tuning · team training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753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917922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23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17922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3E6B4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2913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3E6B4"/>
                </a:solidFill>
                <a:latin typeface="Calibri"/>
              </a:rPr>
              <a:t>Week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2913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Meet Your 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23662" y="4480560"/>
            <a:ext cx="457200" cy="22860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98633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60-min handover · go-live sign-off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icon_transparent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196781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1371600"/>
            <a:ext cx="6583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EA0B8"/>
                </a:solidFill>
                <a:latin typeface="Calibri"/>
              </a:rPr>
              <a:t>DIGITALVERSE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28800"/>
            <a:ext cx="658368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5F7FA"/>
                </a:solidFill>
                <a:latin typeface="Calibri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63240"/>
            <a:ext cx="6583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5F7FA"/>
                </a:solidFill>
                <a:latin typeface="Calibri"/>
              </a:rPr>
              <a:t>Let's build something </a:t>
            </a:r>
            <a:r>
              <a:rPr sz="2200" b="1" i="0">
                <a:solidFill>
                  <a:srgbClr val="00B7FF"/>
                </a:solidFill>
                <a:latin typeface="Calibri"/>
              </a:rPr>
              <a:t>great</a:t>
            </a:r>
            <a:r>
              <a:rPr sz="2200" b="0" i="0">
                <a:solidFill>
                  <a:srgbClr val="F5F7FA"/>
                </a:solidFill>
                <a:latin typeface="Calibri"/>
              </a:rPr>
              <a:t>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703320"/>
            <a:ext cx="6583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B46FF"/>
                </a:solidFill>
                <a:latin typeface="Calibri"/>
              </a:rPr>
              <a:t>ONBOARD.</a:t>
            </a:r>
            <a:r>
              <a:rPr sz="1300" b="0" i="0">
                <a:solidFill>
                  <a:srgbClr val="F5F7FA"/>
                </a:solidFill>
                <a:latin typeface="Calibri"/>
              </a:rPr>
              <a:t>  </a:t>
            </a:r>
            <a:r>
              <a:rPr sz="1300" b="1" i="0">
                <a:solidFill>
                  <a:srgbClr val="00B7FF"/>
                </a:solidFill>
                <a:latin typeface="Calibri"/>
              </a:rPr>
              <a:t>SCALE UP.</a:t>
            </a:r>
            <a:r>
              <a:rPr sz="1300" b="0" i="0">
                <a:solidFill>
                  <a:srgbClr val="F5F7FA"/>
                </a:solidFill>
                <a:latin typeface="Calibri"/>
              </a:rPr>
              <a:t>  </a:t>
            </a:r>
            <a:r>
              <a:rPr sz="1300" b="1" i="0">
                <a:solidFill>
                  <a:srgbClr val="23E6B4"/>
                </a:solidFill>
                <a:latin typeface="Calibri"/>
              </a:rPr>
              <a:t>TRANSFORM.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2"/>
            <a:ext cx="3331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3331464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5F7FA"/>
                </a:solidFill>
                <a:latin typeface="Calibri"/>
              </a:rPr>
              <a:t>www.digitalverse.com.au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744" y="4599432"/>
            <a:ext cx="3331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E6B4"/>
                </a:solidFill>
                <a:latin typeface="Calibri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8744" y="4892040"/>
            <a:ext cx="3331464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5F7FA"/>
                </a:solidFill>
                <a:latin typeface="Calibri"/>
              </a:rPr>
              <a:t>simmo@digitalverse.com.au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3088" y="4599432"/>
            <a:ext cx="3331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B46FF"/>
                </a:solidFill>
                <a:latin typeface="Calibri"/>
              </a:rPr>
              <a:t>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3088" y="4892040"/>
            <a:ext cx="3331464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5F7FA"/>
                </a:solidFill>
                <a:latin typeface="Calibri"/>
              </a:rPr>
              <a:t>Western Sydney &amp; Blue Mountains, NSW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Digitalverse  ·  Fix Electrical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6446520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5A6A82"/>
                </a:solidFill>
                <a:latin typeface="Calibri"/>
              </a:rPr>
              <a:t>AI That Runs Your Front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1530</Words>
  <Application>Microsoft Macintosh PowerPoint</Application>
  <PresentationFormat>Widescreen</PresentationFormat>
  <Paragraphs>231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Simon De Greyte</cp:lastModifiedBy>
  <cp:revision>2</cp:revision>
  <dcterms:created xsi:type="dcterms:W3CDTF">2013-01-27T09:14:16Z</dcterms:created>
  <dcterms:modified xsi:type="dcterms:W3CDTF">2026-05-01T06:26:23Z</dcterms:modified>
  <cp:category/>
</cp:coreProperties>
</file>